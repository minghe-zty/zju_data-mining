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7" r:id="rId7"/>
    <p:sldId id="260" r:id="rId8"/>
    <p:sldId id="268" r:id="rId9"/>
    <p:sldId id="261" r:id="rId10"/>
    <p:sldId id="269" r:id="rId11"/>
    <p:sldId id="272" r:id="rId12"/>
    <p:sldId id="273" r:id="rId13"/>
    <p:sldId id="263" r:id="rId14"/>
    <p:sldId id="270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Contrastive Clustering 论文报告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t>AAAI 2021</a:t>
            </a:r>
          </a:p>
          <a:p>
            <a:r>
              <a:rPr lang="zh-CN" altLang="en-US"/>
              <a:t>至目前被引用次数为</a:t>
            </a:r>
            <a:r>
              <a:rPr lang="en-US" altLang="zh-CN"/>
              <a:t>743</a:t>
            </a:r>
            <a:r>
              <a:rPr lang="zh-CN" altLang="en-US"/>
              <a:t>次</a:t>
            </a:r>
            <a:endParaRPr lang="zh-CN" altLang="en-US"/>
          </a:p>
          <a:p>
            <a:r>
              <a:rPr lang="en-US" altLang="zh-CN"/>
              <a:t>[2009.09687] Contrastive Clustering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内容概览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论文背景</a:t>
            </a:r>
          </a:p>
          <a:p>
            <a:pPr>
              <a:defRPr sz="1800"/>
            </a:pPr>
            <a:r>
              <a:t>2. 研究问题</a:t>
            </a:r>
          </a:p>
          <a:p>
            <a:pPr>
              <a:defRPr sz="1800"/>
            </a:pPr>
            <a:r>
              <a:t>3. 方法概述</a:t>
            </a:r>
          </a:p>
          <a:p>
            <a:pPr>
              <a:defRPr sz="1800"/>
            </a:pPr>
            <a:r>
              <a:t>4. 模块细节</a:t>
            </a:r>
          </a:p>
          <a:p>
            <a:pPr>
              <a:defRPr sz="1800"/>
            </a:pPr>
            <a:r>
              <a:t>5. 实验结果</a:t>
            </a:r>
          </a:p>
          <a:p>
            <a:pPr>
              <a:defRPr sz="1800"/>
            </a:pPr>
            <a:r>
              <a:t>6. 未来工作与看法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论文背景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2400"/>
              <a:t>- 聚类是无监督学习中的关键任务，但传统聚类方法难以处理高维复杂数据。</a:t>
            </a:r>
            <a:endParaRPr sz="2400"/>
          </a:p>
          <a:p>
            <a:pPr>
              <a:defRPr sz="1800"/>
            </a:pPr>
            <a:r>
              <a:rPr sz="2400"/>
              <a:t>- 深度聚类利用神经网络进行特征提取，但多数为“先特征、后聚类”的两阶段方法。</a:t>
            </a:r>
            <a:endParaRPr sz="2400"/>
          </a:p>
          <a:p>
            <a:pPr>
              <a:defRPr sz="1800"/>
            </a:pPr>
            <a:r>
              <a:rPr sz="2400"/>
              <a:t>- 对比学习近年来发展迅速，但通常仅进行实例级优化，未结合聚类结构。</a:t>
            </a:r>
            <a:endParaRPr sz="2400"/>
          </a:p>
          <a:p>
            <a:pPr>
              <a:defRPr sz="1800"/>
            </a:pPr>
            <a:r>
              <a:rPr sz="2400"/>
              <a:t>- 本文提出 Contrastive Clustering (CC)，将“聚类结构”纳入对比学习中，统一特征学习与聚类目标。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论文解决的问题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3470"/>
            <a:ext cx="8229600" cy="4525963"/>
          </a:xfrm>
        </p:spPr>
        <p:txBody>
          <a:bodyPr/>
          <a:lstStyle/>
          <a:p>
            <a:endParaRPr sz="2400"/>
          </a:p>
          <a:p>
            <a:pPr>
              <a:defRPr sz="1800"/>
            </a:pPr>
            <a:r>
              <a:rPr sz="2400"/>
              <a:t>- 解决两阶段聚类导致误差累积，无法联合优化。</a:t>
            </a:r>
            <a:endParaRPr sz="2400"/>
          </a:p>
          <a:p>
            <a:pPr>
              <a:defRPr sz="1800"/>
            </a:pPr>
            <a:r>
              <a:rPr sz="2400"/>
              <a:t>- 克服传统方法无法处理在线数据流的问题。</a:t>
            </a:r>
            <a:endParaRPr sz="2400"/>
          </a:p>
          <a:p>
            <a:pPr>
              <a:defRPr sz="1800"/>
            </a:pPr>
            <a:r>
              <a:rPr sz="2400"/>
              <a:t>- 改进对比学习仅限于实例级、不理解簇结构的不足。</a:t>
            </a:r>
            <a:endParaRPr sz="2400"/>
          </a:p>
          <a:p>
            <a:pPr>
              <a:defRPr sz="1800"/>
            </a:pPr>
            <a:r>
              <a:rPr sz="2400"/>
              <a:t>- 实现端到端、单阶段、可在线扩展的聚类方法。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论文解决的问题</a:t>
            </a:r>
          </a:p>
        </p:txBody>
      </p:sp>
      <p:pic>
        <p:nvPicPr>
          <p:cNvPr id="4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6630" y="1417955"/>
            <a:ext cx="4650105" cy="4483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方法概述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2400"/>
          </a:p>
          <a:p>
            <a:pPr>
              <a:defRPr sz="1800"/>
            </a:pPr>
            <a:r>
              <a:rPr sz="2400"/>
              <a:t>- 样本对构建模块 PCB：基于数据增强构造正负样本对。</a:t>
            </a:r>
            <a:endParaRPr sz="2400"/>
          </a:p>
          <a:p>
            <a:pPr>
              <a:defRPr sz="1800"/>
            </a:pPr>
            <a:r>
              <a:rPr sz="2400"/>
              <a:t>- 实例级对比模块 ICH：最大化正样本对相似性，最小化负样本对。</a:t>
            </a:r>
            <a:endParaRPr sz="2400"/>
          </a:p>
          <a:p>
            <a:pPr>
              <a:defRPr sz="1800"/>
            </a:pPr>
            <a:r>
              <a:rPr sz="2400"/>
              <a:t>- 聚类级对比模块 CCH：使用 soft label 表征簇结构，进行列空间对比。</a:t>
            </a:r>
            <a:endParaRPr sz="2400"/>
          </a:p>
          <a:p>
            <a:pPr>
              <a:defRPr sz="1800"/>
            </a:pPr>
            <a:r>
              <a:rPr sz="2400"/>
              <a:t>- 总损失 = 实例级损失 + 聚类级损失，端到端优化，无需调参。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方法概述</a:t>
            </a:r>
          </a:p>
        </p:txBody>
      </p:sp>
      <p:pic>
        <p:nvPicPr>
          <p:cNvPr id="5" name="图片 1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2152650"/>
            <a:ext cx="8229600" cy="3420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实例级对比学习（ICH）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2400"/>
              <a:t>- 对每个样本进行两种数据增强，构造正负对。</a:t>
            </a:r>
            <a:endParaRPr sz="2400"/>
          </a:p>
          <a:p>
            <a:pPr>
              <a:defRPr sz="1800"/>
            </a:pPr>
            <a:r>
              <a:rPr sz="2400"/>
              <a:t>- 正对：来自同一样本的两个增强版本。</a:t>
            </a:r>
            <a:endParaRPr sz="2400"/>
          </a:p>
          <a:p>
            <a:pPr>
              <a:defRPr sz="1800"/>
            </a:pPr>
            <a:r>
              <a:rPr sz="2400"/>
              <a:t>- 引入 MLP 投影头，增强特征对比效果。</a:t>
            </a:r>
            <a:endParaRPr sz="2400"/>
          </a:p>
          <a:p>
            <a:pPr>
              <a:defRPr sz="1800"/>
            </a:pPr>
            <a:r>
              <a:rPr sz="2400"/>
              <a:t>- 损失函数采用 InfoNCE，使用余弦相似度衡量相似性。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4.1 实例级对比学习（ICH）</a:t>
            </a:r>
          </a:p>
        </p:txBody>
      </p:sp>
      <p:pic>
        <p:nvPicPr>
          <p:cNvPr id="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45" y="1417955"/>
            <a:ext cx="6925945" cy="1592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3195955"/>
            <a:ext cx="7175500" cy="831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380" y="4382135"/>
            <a:ext cx="4333875" cy="1094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聚类级对比学习（CCH）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2400"/>
              <a:t>- 将样本投影至类别数维空间，每个维度表示对某类的隶属概率。</a:t>
            </a:r>
            <a:endParaRPr sz="2400"/>
          </a:p>
          <a:p>
            <a:pPr>
              <a:defRPr sz="1800"/>
            </a:pPr>
            <a:r>
              <a:rPr sz="2400"/>
              <a:t>- soft label 行向量代表样本，列向量代表簇。</a:t>
            </a:r>
            <a:endParaRPr sz="2400"/>
          </a:p>
          <a:p>
            <a:pPr>
              <a:defRPr sz="1800"/>
            </a:pPr>
            <a:r>
              <a:rPr sz="2400"/>
              <a:t>- 聚类级正对：同一簇在两种增强下的表示。</a:t>
            </a:r>
            <a:endParaRPr sz="2400"/>
          </a:p>
          <a:p>
            <a:pPr>
              <a:defRPr sz="1800"/>
            </a:pPr>
            <a:r>
              <a:rPr sz="2400"/>
              <a:t>- 添加熵正则项防止退化（全部落入同一簇）。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聚类级对比学习（CCH）</a:t>
            </a:r>
          </a:p>
        </p:txBody>
      </p:sp>
      <p:pic>
        <p:nvPicPr>
          <p:cNvPr id="6" name="图片 1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51205" y="1628775"/>
            <a:ext cx="7640955" cy="1065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620" y="3171825"/>
            <a:ext cx="3794125" cy="788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4437380"/>
            <a:ext cx="8023225" cy="572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总体训练与损失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2400"/>
          </a:p>
          <a:p>
            <a:pPr>
              <a:defRPr sz="1800"/>
            </a:pPr>
            <a:r>
              <a:rPr sz="2400"/>
              <a:t>- ICH 和 CCH 同时优化。</a:t>
            </a:r>
            <a:endParaRPr sz="2400"/>
          </a:p>
          <a:p>
            <a:pPr>
              <a:defRPr sz="1800"/>
            </a:pPr>
            <a:r>
              <a:rPr sz="2400"/>
              <a:t>- 单阶段训练，无需特征提取后再聚类。</a:t>
            </a:r>
            <a:endParaRPr sz="2400"/>
          </a:p>
          <a:p>
            <a:pPr>
              <a:defRPr sz="1800"/>
            </a:pPr>
            <a:r>
              <a:rPr sz="2400"/>
              <a:t>- 损失函数 L = L_ins + L_clu</a:t>
            </a:r>
            <a:endParaRPr sz="2400"/>
          </a:p>
          <a:p>
            <a:pPr>
              <a:defRPr sz="1800"/>
            </a:pPr>
            <a:r>
              <a:rPr sz="2400"/>
              <a:t>- 无需设定损失权重，简单加和即可。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总体训练与损失</a:t>
            </a:r>
          </a:p>
        </p:txBody>
      </p:sp>
      <p:pic>
        <p:nvPicPr>
          <p:cNvPr id="10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6975" y="1192530"/>
            <a:ext cx="4210050" cy="493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实验结果总览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- 数据集：CIFAR-10/100、STL-10、ImageNet-10、Dogs、Tiny-ImageNet</a:t>
            </a:r>
          </a:p>
          <a:p>
            <a:pPr>
              <a:defRPr sz="1800"/>
            </a:pPr>
            <a:r>
              <a:t>- 对比 17 个主流聚类方法（如 PICA、DEC、JULE）</a:t>
            </a:r>
          </a:p>
          <a:p>
            <a:pPr>
              <a:defRPr sz="1800"/>
            </a:pPr>
            <a:r>
              <a:t>- 在 NMI、ACC、ARI 指标上全面领先。</a:t>
            </a:r>
          </a:p>
          <a:p>
            <a:pPr>
              <a:defRPr sz="1800"/>
            </a:pPr>
            <a:r>
              <a:t>- 在 CIFAR-100 和 Tiny-ImageNet 上 ARI 提升超过 50%。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5.1 消融实验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- 数据增强对性能影响大：无增强性能骤降。</a:t>
            </a:r>
          </a:p>
          <a:p>
            <a:pPr>
              <a:defRPr sz="1800"/>
            </a:pPr>
            <a:r>
              <a:t>- 单独使用 ICH/CCH，性能下降，联合使用最佳。</a:t>
            </a:r>
          </a:p>
          <a:p>
            <a:pPr>
              <a:defRPr sz="1800"/>
            </a:pPr>
            <a:r>
              <a:t>- 主干网络影响有限，ResNet-34 性能最平衡。</a:t>
            </a:r>
          </a:p>
          <a:p>
            <a:pPr>
              <a:defRPr sz="1800"/>
            </a:p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0325" y="3315970"/>
            <a:ext cx="3943350" cy="29622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未来工作与个人看法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未来工作：</a:t>
            </a:r>
          </a:p>
          <a:p>
            <a:pPr>
              <a:defRPr sz="1800"/>
            </a:pPr>
            <a:r>
              <a:t>- 拓展至半监督或迁移学习任务。</a:t>
            </a:r>
          </a:p>
          <a:p>
            <a:pPr>
              <a:defRPr sz="1800"/>
            </a:pPr>
            <a:r>
              <a:t>- 探索多模态或文本聚类应用。</a:t>
            </a:r>
          </a:p>
          <a:p>
            <a:pPr>
              <a:defRPr sz="1800"/>
            </a:pPr>
            <a:r>
              <a:t>- 优化在资源受限设备上的部署效率。</a:t>
            </a:r>
          </a:p>
          <a:p>
            <a:pPr>
              <a:defRPr sz="1800"/>
            </a:pPr>
            <a:r>
              <a:t>个人观点：</a:t>
            </a:r>
          </a:p>
          <a:p>
            <a:pPr>
              <a:defRPr sz="1800"/>
            </a:pPr>
            <a:r>
              <a:t>- “标签即表示”的理念创新有效。</a:t>
            </a:r>
          </a:p>
          <a:p>
            <a:pPr>
              <a:defRPr sz="1800"/>
            </a:pPr>
            <a:r>
              <a:t>- CC 实现了真正的端到端聚类。</a:t>
            </a:r>
          </a:p>
          <a:p>
            <a:pPr>
              <a:defRPr sz="1800"/>
            </a:pPr>
            <a:r>
              <a:t>- 在无监督聚类领域具有广泛推广潜力。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1313</Words>
  <Application>WPS 演示</Application>
  <PresentationFormat>On-screen Show (4:3)</PresentationFormat>
  <Paragraphs>92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Contrastive Clustering 论文报告</vt:lpstr>
      <vt:lpstr>内容概览</vt:lpstr>
      <vt:lpstr>1. 论文背景</vt:lpstr>
      <vt:lpstr>2. 论文解决的问题</vt:lpstr>
      <vt:lpstr>2. 论文解决的问题</vt:lpstr>
      <vt:lpstr>3. 方法概述</vt:lpstr>
      <vt:lpstr>3. 方法概述</vt:lpstr>
      <vt:lpstr>4.1 实例级对比学习（ICH）</vt:lpstr>
      <vt:lpstr>4.2 聚类级对比学习（CCH）</vt:lpstr>
      <vt:lpstr>4.2 聚类级对比学习（CCH）</vt:lpstr>
      <vt:lpstr>4.2 聚类级对比学习（CCH）</vt:lpstr>
      <vt:lpstr>4.3 总体训练与损失</vt:lpstr>
      <vt:lpstr>4.3 总体训练与损失</vt:lpstr>
      <vt:lpstr>5. 实验结果总览</vt:lpstr>
      <vt:lpstr>5.1 消融实验</vt:lpstr>
      <vt:lpstr>6. 未来工作与个人看法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悦</cp:lastModifiedBy>
  <cp:revision>9</cp:revision>
  <dcterms:created xsi:type="dcterms:W3CDTF">2013-01-27T09:14:00Z</dcterms:created>
  <dcterms:modified xsi:type="dcterms:W3CDTF">2025-05-22T03:36:00Z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B34539D7B64F4AACBDD28F4FFF17E2F7_13</vt:lpwstr>
  </property>
  <property fmtid="{D5CDD505-2E9C-101B-9397-08002B2CF9AE}" pid="3" name="KSOProductBuildVer">
    <vt:lpwstr>2052-12.1.0.21171</vt:lpwstr>
  </property>
</Properties>
</file>